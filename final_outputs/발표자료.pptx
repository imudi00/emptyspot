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Pretendard Bold" panose="020B0600000101010101" charset="-127"/>
      <p:bold r:id="rId17"/>
    </p:embeddedFont>
    <p:embeddedFont>
      <p:font typeface="Pretendard ExtraBold" panose="020B0600000101010101" charset="-127"/>
      <p:bold r:id="rId18"/>
    </p:embeddedFont>
    <p:embeddedFont>
      <p:font typeface="Pretendard Medium" panose="020B0600000101010101" charset="-127"/>
      <p:bold r:id="rId19"/>
    </p:embeddedFont>
    <p:embeddedFont>
      <p:font typeface="Pretendard Regular" panose="020B0600000101010101" charset="-127"/>
      <p:regular r:id="rId20"/>
    </p:embeddedFont>
    <p:embeddedFont>
      <p:font typeface="Pretendard SemiBold" panose="020B0600000101010101" charset="-127"/>
      <p:bold r:id="rId21"/>
    </p:embeddedFont>
    <p:embeddedFont>
      <p:font typeface="Anek Bangla Expanded SemiBold" panose="020B0600000101010101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8" y="2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4200"/>
            <a:ext cx="18288000" cy="462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0" y="787400"/>
            <a:ext cx="2730500" cy="3594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429000" y="4356100"/>
            <a:ext cx="11176000" cy="2489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7000" b="0" i="0" u="none" strike="noStrike">
                <a:solidFill>
                  <a:srgbClr val="007BFF"/>
                </a:solidFill>
                <a:ea typeface="Pretendard ExtraBold"/>
              </a:rPr>
              <a:t>실시간</a:t>
            </a:r>
            <a:r>
              <a:rPr lang="en-US" sz="70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7000" b="0" i="0" u="none" strike="noStrike">
                <a:solidFill>
                  <a:srgbClr val="007BFF"/>
                </a:solidFill>
                <a:ea typeface="Pretendard ExtraBold"/>
              </a:rPr>
              <a:t>공간추천</a:t>
            </a:r>
            <a:r>
              <a:rPr lang="en-US" sz="70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7000" b="0" i="0" u="none" strike="noStrike">
                <a:solidFill>
                  <a:srgbClr val="007BFF"/>
                </a:solidFill>
                <a:ea typeface="Pretendard ExtraBold"/>
              </a:rPr>
              <a:t>서비스</a:t>
            </a:r>
          </a:p>
          <a:p>
            <a:pPr lvl="0" algn="ctr">
              <a:lnSpc>
                <a:spcPct val="116199"/>
              </a:lnSpc>
            </a:pPr>
            <a:r>
              <a:rPr lang="ko-KR" sz="7000" b="0" i="0" u="none" strike="noStrike">
                <a:solidFill>
                  <a:srgbClr val="FFFFFF"/>
                </a:solidFill>
                <a:ea typeface="Pretendard ExtraBold"/>
              </a:rPr>
              <a:t>장소</a:t>
            </a:r>
            <a:r>
              <a:rPr lang="en-US" sz="7000" b="0" i="0" u="none" strike="noStrike">
                <a:solidFill>
                  <a:srgbClr val="FFFFFF"/>
                </a:solidFill>
                <a:latin typeface="Pretendard ExtraBold"/>
              </a:rPr>
              <a:t> </a:t>
            </a:r>
            <a:r>
              <a:rPr lang="ko-KR" sz="7000" b="0" i="0" u="none" strike="noStrike">
                <a:solidFill>
                  <a:srgbClr val="FFFFFF"/>
                </a:solidFill>
                <a:ea typeface="Pretendard ExtraBold"/>
              </a:rPr>
              <a:t>빌게이츠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27800" y="6858000"/>
            <a:ext cx="5207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sz="2200" b="0" i="0" u="none" strike="noStrike" spc="100">
                <a:solidFill>
                  <a:srgbClr val="FFFFFF">
                    <a:alpha val="80000"/>
                  </a:srgbClr>
                </a:solidFill>
                <a:ea typeface="Pretendard Regular"/>
              </a:rPr>
              <a:t>가천</a:t>
            </a:r>
            <a:r>
              <a:rPr lang="en-US" sz="2200" b="0" i="0" u="none" strike="noStrike" spc="100">
                <a:solidFill>
                  <a:srgbClr val="FFFFFF">
                    <a:alpha val="80000"/>
                  </a:srgbClr>
                </a:solidFill>
                <a:latin typeface="Pretendard Regular"/>
              </a:rPr>
              <a:t> X </a:t>
            </a:r>
            <a:r>
              <a:rPr lang="ko-KR" sz="2200" b="0" i="0" u="none" strike="noStrike" spc="100">
                <a:solidFill>
                  <a:srgbClr val="FFFFFF">
                    <a:alpha val="80000"/>
                  </a:srgbClr>
                </a:solidFill>
                <a:ea typeface="Pretendard Regular"/>
              </a:rPr>
              <a:t>세종</a:t>
            </a:r>
            <a:r>
              <a:rPr lang="en-US" sz="2200" b="0" i="0" u="none" strike="noStrike" spc="100">
                <a:solidFill>
                  <a:srgbClr val="FFFFFF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100">
                <a:solidFill>
                  <a:srgbClr val="FFFFFF">
                    <a:alpha val="80000"/>
                  </a:srgbClr>
                </a:solidFill>
                <a:ea typeface="Pretendard Regular"/>
              </a:rPr>
              <a:t>연합</a:t>
            </a:r>
            <a:r>
              <a:rPr lang="en-US" sz="2200" b="0" i="0" u="none" strike="noStrike" spc="100">
                <a:solidFill>
                  <a:srgbClr val="FFFFFF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100">
                <a:solidFill>
                  <a:srgbClr val="FFFFFF">
                    <a:alpha val="80000"/>
                  </a:srgbClr>
                </a:solidFill>
                <a:ea typeface="Pretendard Regular"/>
              </a:rPr>
              <a:t>학술제</a:t>
            </a:r>
            <a:r>
              <a:rPr lang="en-US" sz="2200" b="0" i="0" u="none" strike="noStrike" spc="100">
                <a:solidFill>
                  <a:srgbClr val="FFFFFF">
                    <a:alpha val="80000"/>
                  </a:srgbClr>
                </a:solidFill>
                <a:latin typeface="Pretendard Regular"/>
              </a:rPr>
              <a:t>  </a:t>
            </a:r>
            <a:r>
              <a:rPr lang="ko-KR" sz="2200" b="0" i="0" u="none" strike="noStrike" spc="100">
                <a:solidFill>
                  <a:srgbClr val="FFFFFF">
                    <a:alpha val="80000"/>
                  </a:srgbClr>
                </a:solidFill>
                <a:ea typeface="Pretendard Regular"/>
              </a:rPr>
              <a:t>구현파트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1900" y="2794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800" b="0" i="0" u="none" strike="noStrike">
                <a:solidFill>
                  <a:srgbClr val="007BFF"/>
                </a:solidFill>
                <a:latin typeface="Pretendard Bold"/>
              </a:rPr>
              <a:t>2025.08.22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5100" y="8902700"/>
            <a:ext cx="5257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TEAM </a:t>
            </a: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시간</a:t>
            </a: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빌게이츠</a:t>
            </a:r>
            <a:b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</a:b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안성현</a:t>
            </a: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이</a:t>
            </a: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찬</a:t>
            </a: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임지수</a:t>
            </a:r>
            <a:r>
              <a:rPr lang="en-US" sz="2200" b="0" i="0" u="none" strike="noStrike" spc="100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200" b="0" i="0" u="none" strike="noStrike" spc="100">
                <a:solidFill>
                  <a:srgbClr val="FFFFFF"/>
                </a:solidFill>
                <a:ea typeface="Pretendard SemiBold"/>
              </a:rPr>
              <a:t>정은우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150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411700" y="304800"/>
            <a:ext cx="5461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5200" y="2882900"/>
            <a:ext cx="51943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1800" b="0" i="0" u="none" strike="noStrike">
                <a:solidFill>
                  <a:srgbClr val="007BFF"/>
                </a:solidFill>
                <a:latin typeface="Pretendard ExtraBold"/>
              </a:rPr>
              <a:t>Table of 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5200" y="1892300"/>
            <a:ext cx="71628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목차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0" y="2070100"/>
            <a:ext cx="76200" cy="812800"/>
          </a:xfrm>
          <a:prstGeom prst="rect">
            <a:avLst/>
          </a:prstGeom>
          <a:effectLst>
            <a:outerShdw blurRad="64" dist="7412" dir="2700000">
              <a:srgbClr val="000000">
                <a:alpha val="5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172700" y="2133600"/>
            <a:ext cx="5410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문제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정의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및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사용자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분석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11300" y="2209800"/>
            <a:ext cx="1257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3100" b="0" i="0" u="none" strike="noStrike">
                <a:solidFill>
                  <a:srgbClr val="007BFF"/>
                </a:solidFill>
                <a:latin typeface="Pretendard SemiBold"/>
              </a:rPr>
              <a:t>02p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0" y="3454400"/>
            <a:ext cx="76200" cy="812800"/>
          </a:xfrm>
          <a:prstGeom prst="rect">
            <a:avLst/>
          </a:prstGeom>
          <a:effectLst>
            <a:outerShdw blurRad="64" dist="7412" dir="2700000">
              <a:srgbClr val="000000">
                <a:alpha val="5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0172700" y="3517900"/>
            <a:ext cx="5410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서비스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아키텍처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1300" y="3594100"/>
            <a:ext cx="1257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3100" b="0" i="0" u="none" strike="noStrike">
                <a:solidFill>
                  <a:srgbClr val="007BFF"/>
                </a:solidFill>
                <a:latin typeface="Pretendard SemiBold"/>
              </a:rPr>
              <a:t>03p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0" y="4940300"/>
            <a:ext cx="76200" cy="812800"/>
          </a:xfrm>
          <a:prstGeom prst="rect">
            <a:avLst/>
          </a:prstGeom>
          <a:effectLst>
            <a:outerShdw blurRad="64" dist="7412" dir="2700000">
              <a:srgbClr val="000000">
                <a:alpha val="50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0172700" y="5003800"/>
            <a:ext cx="5410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핵심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기능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및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동작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원리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11300" y="5080000"/>
            <a:ext cx="1257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3100" b="0" i="0" u="none" strike="noStrike">
                <a:solidFill>
                  <a:srgbClr val="007BFF"/>
                </a:solidFill>
                <a:latin typeface="Pretendard SemiBold"/>
              </a:rPr>
              <a:t>04p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0" y="6286500"/>
            <a:ext cx="76200" cy="812800"/>
          </a:xfrm>
          <a:prstGeom prst="rect">
            <a:avLst/>
          </a:prstGeom>
          <a:effectLst>
            <a:outerShdw blurRad="64" dist="7412" dir="2700000">
              <a:srgbClr val="000000">
                <a:alpha val="50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10172700" y="6350000"/>
            <a:ext cx="5410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개발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배경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및</a:t>
            </a:r>
            <a:r>
              <a:rPr lang="en-US" sz="3400" b="0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과정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11300" y="6413500"/>
            <a:ext cx="12573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3100" b="0" i="0" u="none" strike="noStrike">
                <a:solidFill>
                  <a:srgbClr val="007BFF"/>
                </a:solidFill>
                <a:latin typeface="Pretendard SemiBold"/>
              </a:rPr>
              <a:t>10p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7708900"/>
            <a:ext cx="76200" cy="812800"/>
          </a:xfrm>
          <a:prstGeom prst="rect">
            <a:avLst/>
          </a:prstGeom>
          <a:effectLst>
            <a:outerShdw blurRad="64" dist="7412" dir="2700000">
              <a:srgbClr val="000000">
                <a:alpha val="50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10147300" y="7772400"/>
            <a:ext cx="5410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400" b="0" i="0" u="none" strike="noStrike">
                <a:solidFill>
                  <a:srgbClr val="007BFF"/>
                </a:solidFill>
                <a:ea typeface="Pretendard SemiBold"/>
              </a:rPr>
              <a:t>결론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8600" y="7835900"/>
            <a:ext cx="12573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3100" b="0" i="0" u="none" strike="noStrike">
                <a:solidFill>
                  <a:srgbClr val="007BFF"/>
                </a:solidFill>
                <a:latin typeface="Pretendard SemiBold"/>
              </a:rPr>
              <a:t>12p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53800" y="7861300"/>
            <a:ext cx="19050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7BFF"/>
              </a:buClr>
              <a:buFont typeface="Arial"/>
              <a:buChar char="●"/>
            </a:pPr>
            <a:r>
              <a:rPr lang="ko-KR" sz="1500" b="0" i="0" u="none" strike="noStrike" dirty="0">
                <a:solidFill>
                  <a:srgbClr val="007BFF"/>
                </a:solidFill>
                <a:ea typeface="Pretendard Regular"/>
              </a:rPr>
              <a:t>한계점</a:t>
            </a:r>
            <a:r>
              <a:rPr lang="en-US" sz="1500" b="0" i="0" u="none" strike="noStrike" dirty="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1500" b="0" i="0" u="none" strike="noStrike" dirty="0">
                <a:solidFill>
                  <a:srgbClr val="007BFF"/>
                </a:solidFill>
                <a:ea typeface="Pretendard Regular"/>
              </a:rPr>
              <a:t>및</a:t>
            </a:r>
            <a:r>
              <a:rPr lang="en-US" sz="1500" b="0" i="0" u="none" strike="noStrike" dirty="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1500" b="0" i="0" u="none" strike="noStrike" dirty="0">
                <a:solidFill>
                  <a:srgbClr val="007BFF"/>
                </a:solidFill>
                <a:ea typeface="Pretendard Regular"/>
              </a:rPr>
              <a:t>개선할</a:t>
            </a:r>
            <a:r>
              <a:rPr lang="en-US" sz="1500" b="0" i="0" u="none" strike="noStrike" dirty="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1500" b="0" i="0" u="none" strike="noStrike" dirty="0">
                <a:solidFill>
                  <a:srgbClr val="007BFF"/>
                </a:solidFill>
                <a:ea typeface="Pretendard Regular"/>
              </a:rPr>
              <a:t>점</a:t>
            </a:r>
          </a:p>
          <a:p>
            <a:pPr marL="342900" lvl="0" indent="-342900" algn="l">
              <a:lnSpc>
                <a:spcPct val="116199"/>
              </a:lnSpc>
              <a:buClr>
                <a:srgbClr val="007BFF"/>
              </a:buClr>
              <a:buFont typeface="Arial"/>
              <a:buChar char="●"/>
            </a:pPr>
            <a:r>
              <a:rPr lang="ko-KR" sz="1500" b="0" i="0" u="none" strike="noStrike" dirty="0">
                <a:solidFill>
                  <a:srgbClr val="007BFF"/>
                </a:solidFill>
                <a:ea typeface="Pretendard Regular"/>
              </a:rPr>
              <a:t>향후계획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5547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411700" y="3048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문제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정의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및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사용자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분석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5400" y="5257800"/>
            <a:ext cx="8636000" cy="433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4380"/>
              </a:lnSpc>
            </a:pPr>
            <a:r>
              <a:rPr lang="en-US" sz="2900" b="1" i="0" u="none" strike="noStrike">
                <a:solidFill>
                  <a:srgbClr val="323232"/>
                </a:solidFill>
                <a:latin typeface="Pretendard Medium"/>
              </a:rPr>
              <a:t>MVP (Minimum Viable Product)</a:t>
            </a:r>
          </a:p>
          <a:p>
            <a:pPr marL="342900" lvl="0" indent="-342900" algn="l">
              <a:lnSpc>
                <a:spcPct val="154380"/>
              </a:lnSpc>
              <a:buClr>
                <a:srgbClr val="323232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기반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추천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: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실시간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(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점유율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)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낮은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순으로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정렬해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추천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(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동률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거리순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).</a:t>
            </a:r>
          </a:p>
          <a:p>
            <a:pPr marL="342900" lvl="0" indent="-342900" algn="l">
              <a:lnSpc>
                <a:spcPct val="154380"/>
              </a:lnSpc>
              <a:buClr>
                <a:srgbClr val="323232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인원수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기준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추천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: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데이터베이스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(DB)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에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저장된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최대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수용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인원과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현재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가용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좌석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수를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고려해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요청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인원을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수용할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있는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공간만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필터링하여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추천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.</a:t>
            </a:r>
          </a:p>
          <a:p>
            <a:pPr marL="342900" lvl="0" indent="-342900" algn="l">
              <a:lnSpc>
                <a:spcPct val="154380"/>
              </a:lnSpc>
              <a:buClr>
                <a:srgbClr val="323232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위치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기반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추천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: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사용자의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현재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위치와의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거리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(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또는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이동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시간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)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짧은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순으로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정렬해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추천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(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동률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혼잡도순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28100" y="2616200"/>
            <a:ext cx="8597900" cy="209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7740"/>
              </a:lnSpc>
            </a:pPr>
            <a:r>
              <a:rPr lang="ko-KR" sz="2900" b="1" i="0" u="none" strike="noStrike">
                <a:solidFill>
                  <a:srgbClr val="323232"/>
                </a:solidFill>
                <a:ea typeface="Pretendard Medium"/>
              </a:rPr>
              <a:t>문제정의</a:t>
            </a:r>
          </a:p>
          <a:p>
            <a:pPr marL="342900" lvl="0" indent="-342900" algn="l">
              <a:lnSpc>
                <a:spcPct val="147740"/>
              </a:lnSpc>
              <a:buClr>
                <a:srgbClr val="323232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예약만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해두고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실제로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자리를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사용하지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않는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경우가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많아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학생들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사이에서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불만이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제기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</a:p>
          <a:p>
            <a:pPr marL="342900" lvl="0" indent="-342900" algn="l">
              <a:lnSpc>
                <a:spcPct val="147740"/>
              </a:lnSpc>
              <a:buClr>
                <a:srgbClr val="323232"/>
              </a:buClr>
              <a:buFont typeface="Arial"/>
              <a:buChar char="●"/>
            </a:pP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넓은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캠퍼스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특성상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팀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프로젝트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회의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공간이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여러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건물에</a:t>
            </a:r>
            <a:r>
              <a:rPr lang="en-US" sz="23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323232"/>
                </a:solidFill>
                <a:ea typeface="Pretendard Medium"/>
              </a:rPr>
              <a:t>분산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933700"/>
            <a:ext cx="3403600" cy="6172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0" y="2933700"/>
            <a:ext cx="4330700" cy="2755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800" y="6019800"/>
            <a:ext cx="40640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6309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727200"/>
            <a:ext cx="15735300" cy="8343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411700" y="304800"/>
            <a:ext cx="5461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서비스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아키텍처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12800" y="1155700"/>
            <a:ext cx="32131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300" b="1" i="0" u="none" strike="noStrike">
                <a:solidFill>
                  <a:srgbClr val="007BFF"/>
                </a:solidFill>
                <a:latin typeface="Pretendard SemiBold"/>
              </a:rPr>
              <a:t>&lt;</a:t>
            </a:r>
            <a:r>
              <a:rPr lang="ko-KR" sz="2300" b="1" i="0" u="none" strike="noStrike">
                <a:solidFill>
                  <a:srgbClr val="007BFF"/>
                </a:solidFill>
                <a:ea typeface="Pretendard SemiBold"/>
              </a:rPr>
              <a:t>전체</a:t>
            </a:r>
            <a:r>
              <a:rPr lang="en-US" sz="2300" b="1" i="0" u="none" strike="noStrike">
                <a:solidFill>
                  <a:srgbClr val="007BFF"/>
                </a:solidFill>
                <a:latin typeface="Pretendard SemiBold"/>
              </a:rPr>
              <a:t> </a:t>
            </a:r>
            <a:r>
              <a:rPr lang="ko-KR" sz="2300" b="1" i="0" u="none" strike="noStrike">
                <a:solidFill>
                  <a:srgbClr val="007BFF"/>
                </a:solidFill>
                <a:ea typeface="Pretendard SemiBold"/>
              </a:rPr>
              <a:t>파이프라인</a:t>
            </a:r>
            <a:r>
              <a:rPr lang="en-US" sz="2300" b="1" i="0" u="none" strike="noStrike">
                <a:solidFill>
                  <a:srgbClr val="007BFF"/>
                </a:solidFill>
                <a:latin typeface="Pretendard SemiBold"/>
              </a:rPr>
              <a:t>&gt;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64700" y="2832100"/>
            <a:ext cx="29464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</a:p>
          <a:p>
            <a:pPr lvl="0" algn="ctr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지능형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점유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판정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로직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53600" y="4927600"/>
            <a:ext cx="30480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혼잡도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조회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9400" y="6921500"/>
            <a:ext cx="31750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REST API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통신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현황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요청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응답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411700" y="304800"/>
            <a:ext cx="5461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핵심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기능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800" y="7810500"/>
            <a:ext cx="9677400" cy="138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카메라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영상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각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좌석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영역을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개별적인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관심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영역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(ROI)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설정하여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, </a:t>
            </a:r>
          </a:p>
          <a:p>
            <a:pPr lvl="0" algn="l">
              <a:lnSpc>
                <a:spcPct val="12200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수십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좌석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상태를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동시에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독립적으로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추적하고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관리</a:t>
            </a:r>
          </a:p>
          <a:p>
            <a:pPr lvl="0" algn="l">
              <a:lnSpc>
                <a:spcPct val="122009"/>
              </a:lnSpc>
            </a:pP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3695700"/>
            <a:ext cx="4381500" cy="3276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63600" y="7112000"/>
            <a:ext cx="55245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Tapo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카메라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(TC60)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이용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/ RTSP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프로토콜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3300" y="7073900"/>
            <a:ext cx="33401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카메라에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찍힌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모습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2500" y="2082800"/>
            <a:ext cx="97409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0390"/>
              </a:lnSpc>
            </a:pP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1.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좌석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단위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개별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 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모니터링</a:t>
            </a:r>
          </a:p>
          <a:p>
            <a:pPr lvl="0" algn="l">
              <a:lnSpc>
                <a:spcPct val="110390"/>
              </a:lnSpc>
            </a:pP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(Individual Seat Monitoring)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3695700"/>
            <a:ext cx="5537200" cy="327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6600" y="2933700"/>
            <a:ext cx="5283200" cy="523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5143500"/>
            <a:ext cx="939800" cy="55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369800" y="2374900"/>
            <a:ext cx="48006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좌석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seat_log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테이블에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저장</a:t>
            </a:r>
          </a:p>
          <a:p>
            <a:pPr lvl="0" algn="l">
              <a:lnSpc>
                <a:spcPct val="122009"/>
              </a:lnSpc>
            </a:pP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754600" y="279400"/>
            <a:ext cx="215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핵심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기능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500" y="2082800"/>
            <a:ext cx="9740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0390"/>
              </a:lnSpc>
            </a:pP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2.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시간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기반의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지능형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점유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판정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59700" y="3225800"/>
            <a:ext cx="9994900" cy="201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3630"/>
              </a:lnSpc>
            </a:pPr>
            <a:r>
              <a:rPr lang="en-US" sz="2800" b="1" i="1" u="none" strike="noStrike">
                <a:solidFill>
                  <a:srgbClr val="323232"/>
                </a:solidFill>
                <a:latin typeface="Pretendard Medium"/>
              </a:rPr>
              <a:t>2-1. </a:t>
            </a:r>
            <a:r>
              <a:rPr lang="ko-KR" sz="2800" b="1" i="1" u="none" strike="noStrike">
                <a:solidFill>
                  <a:srgbClr val="323232"/>
                </a:solidFill>
                <a:ea typeface="Pretendard Medium"/>
              </a:rPr>
              <a:t>점유</a:t>
            </a:r>
            <a:r>
              <a:rPr lang="en-US" sz="2800" b="1" i="1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800" b="1" i="1" u="none" strike="noStrike">
                <a:solidFill>
                  <a:srgbClr val="323232"/>
                </a:solidFill>
                <a:ea typeface="Pretendard Medium"/>
              </a:rPr>
              <a:t>확정</a:t>
            </a:r>
            <a:r>
              <a:rPr lang="en-US" sz="2800" b="1" i="1" u="none" strike="noStrike">
                <a:solidFill>
                  <a:srgbClr val="323232"/>
                </a:solidFill>
                <a:latin typeface="Pretendard Medium"/>
              </a:rPr>
              <a:t> (Occupancy Confirmation)</a:t>
            </a:r>
          </a:p>
          <a:p>
            <a:pPr lvl="0" algn="l">
              <a:lnSpc>
                <a:spcPct val="133630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ROI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내에서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사람이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,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소지품을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10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초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이상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연속으로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감지</a:t>
            </a:r>
          </a:p>
          <a:p>
            <a:pPr lvl="0" algn="l">
              <a:lnSpc>
                <a:spcPct val="133630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=&gt;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해당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좌석을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'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(ON)'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상태로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확정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.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단순히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좌석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옆을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지나가는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유동인구를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오인하는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것을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방지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38500"/>
            <a:ext cx="6388100" cy="283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362700"/>
            <a:ext cx="2946400" cy="2451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200" y="6324600"/>
            <a:ext cx="3187700" cy="2527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861300" y="6388100"/>
            <a:ext cx="8369300" cy="254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3630"/>
              </a:lnSpc>
            </a:pPr>
            <a:r>
              <a:rPr lang="en-US" sz="2800" b="1" i="1" u="none" strike="noStrike">
                <a:solidFill>
                  <a:srgbClr val="000000"/>
                </a:solidFill>
                <a:latin typeface="Pretendard Medium"/>
              </a:rPr>
              <a:t>2-2. </a:t>
            </a:r>
            <a:r>
              <a:rPr lang="ko-KR" sz="2800" b="1" i="1" u="none" strike="noStrike">
                <a:solidFill>
                  <a:srgbClr val="000000"/>
                </a:solidFill>
                <a:ea typeface="Pretendard Medium"/>
              </a:rPr>
              <a:t>이탈</a:t>
            </a:r>
            <a:r>
              <a:rPr lang="en-US" sz="2800" b="1" i="1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800" b="1" i="1" u="none" strike="noStrike">
                <a:solidFill>
                  <a:srgbClr val="000000"/>
                </a:solidFill>
                <a:ea typeface="Pretendard Medium"/>
              </a:rPr>
              <a:t>확정</a:t>
            </a:r>
            <a:r>
              <a:rPr lang="en-US" sz="2800" b="1" i="1" u="none" strike="noStrike">
                <a:solidFill>
                  <a:srgbClr val="000000"/>
                </a:solidFill>
                <a:latin typeface="Pretendard Medium"/>
              </a:rPr>
              <a:t> (Vacancy Confirmation)</a:t>
            </a:r>
          </a:p>
          <a:p>
            <a:pPr lvl="0" algn="l">
              <a:lnSpc>
                <a:spcPct val="133630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'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점유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'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상태의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좌석에서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 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객체가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5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초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이상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연속으로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미감지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  </a:t>
            </a:r>
          </a:p>
          <a:p>
            <a:pPr lvl="0" algn="l">
              <a:lnSpc>
                <a:spcPct val="133630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-&gt; '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비어있음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(OFF)'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상태로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전환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13363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사용자가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잠시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가려지거나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모델이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순간적으로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놓치는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상황에도</a:t>
            </a:r>
          </a:p>
          <a:p>
            <a:pPr lvl="0" algn="l">
              <a:lnSpc>
                <a:spcPct val="13363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상태를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안정적으로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유지하는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강건성을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제공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754600" y="279400"/>
            <a:ext cx="215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핵심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기능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500" y="2082800"/>
            <a:ext cx="9740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0390"/>
              </a:lnSpc>
            </a:pP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3.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실시간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전체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혼잡도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분석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8001000"/>
            <a:ext cx="605790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API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통해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백엔드에서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수치를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응답받고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, </a:t>
            </a:r>
          </a:p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수치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구간에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따라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UI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초록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·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노랑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·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빨강으로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실시간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표시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7800" y="990600"/>
            <a:ext cx="10414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772400" y="4864100"/>
            <a:ext cx="1917700" cy="558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604500" y="8267700"/>
            <a:ext cx="6756400" cy="138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seat_log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있던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row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업데이트</a:t>
            </a:r>
          </a:p>
          <a:p>
            <a:pPr lvl="0" algn="l">
              <a:lnSpc>
                <a:spcPct val="12200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 SQL trigger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통해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실시간으로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파생데이터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연산</a:t>
            </a:r>
          </a:p>
          <a:p>
            <a:pPr lvl="0" algn="l">
              <a:lnSpc>
                <a:spcPct val="12200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 congestion_snapshot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테이블에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저장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200" y="1638300"/>
            <a:ext cx="42164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7000" y="2616200"/>
            <a:ext cx="4381500" cy="534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3378200"/>
            <a:ext cx="5880100" cy="422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7800" y="2794000"/>
            <a:ext cx="2006600" cy="59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3873500"/>
            <a:ext cx="2032000" cy="596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189200" y="1409700"/>
            <a:ext cx="1943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100" b="0" i="0" u="none" strike="noStrike">
                <a:solidFill>
                  <a:srgbClr val="007BFF"/>
                </a:solidFill>
                <a:ea typeface="Pretendard Medium"/>
              </a:rPr>
              <a:t>테이블</a:t>
            </a:r>
            <a:r>
              <a:rPr lang="en-US" sz="2100" b="0" i="0" u="none" strike="noStrike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2100" b="0" i="0" u="none" strike="noStrike">
                <a:solidFill>
                  <a:srgbClr val="007BFF"/>
                </a:solidFill>
                <a:ea typeface="Pretendard Medium"/>
              </a:rPr>
              <a:t>참조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411700" y="3048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핵심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기능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500" y="2082800"/>
            <a:ext cx="97409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0390"/>
              </a:lnSpc>
            </a:pP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4.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시간대별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혼잡도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자동</a:t>
            </a:r>
            <a:r>
              <a:rPr lang="en-US" sz="3400" b="0" i="0" u="none" strike="noStrike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400" b="0" i="0" u="none" strike="noStrike">
                <a:solidFill>
                  <a:srgbClr val="007BFF"/>
                </a:solidFill>
                <a:ea typeface="Pretendard Bold"/>
              </a:rPr>
              <a:t>기록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9800" y="6629400"/>
            <a:ext cx="623570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API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요청을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통해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시간대별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불러와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막대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그래프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형태로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시각화</a:t>
            </a:r>
          </a:p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공간의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이용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패턴을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직관적으로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확인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가능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3810000"/>
            <a:ext cx="6172200" cy="2197100"/>
          </a:xfrm>
          <a:prstGeom prst="rect">
            <a:avLst/>
          </a:prstGeom>
          <a:effectLst>
            <a:outerShdw blurRad="48066" dist="16899" dir="12240000">
              <a:srgbClr val="000000">
                <a:alpha val="7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600" y="1295400"/>
            <a:ext cx="1041400" cy="151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900" y="1790700"/>
            <a:ext cx="4381500" cy="534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7600" y="2921000"/>
            <a:ext cx="4902200" cy="530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7594600" y="4559300"/>
            <a:ext cx="11684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2700" y="3683000"/>
            <a:ext cx="2870200" cy="1917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1000" y="4686300"/>
            <a:ext cx="23622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200" y="3073400"/>
            <a:ext cx="2362200" cy="571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944100" y="8559800"/>
            <a:ext cx="67564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scongestion_snapshot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시간대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별로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집계</a:t>
            </a:r>
          </a:p>
          <a:p>
            <a:pPr lvl="0" algn="l">
              <a:lnSpc>
                <a:spcPct val="12200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 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시간대별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저장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51000" y="1651000"/>
            <a:ext cx="19431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100" b="0" i="0" u="none" strike="noStrike">
                <a:solidFill>
                  <a:srgbClr val="007BFF"/>
                </a:solidFill>
                <a:ea typeface="Pretendard Medium"/>
              </a:rPr>
              <a:t>복합키로</a:t>
            </a:r>
          </a:p>
          <a:p>
            <a:pPr lvl="0" algn="l">
              <a:lnSpc>
                <a:spcPct val="122009"/>
              </a:lnSpc>
            </a:pPr>
            <a:r>
              <a:rPr lang="ko-KR" sz="2100" b="0" i="0" u="none" strike="noStrike">
                <a:solidFill>
                  <a:srgbClr val="007BFF"/>
                </a:solidFill>
                <a:ea typeface="Pretendard Medium"/>
              </a:rPr>
              <a:t>테이블</a:t>
            </a:r>
            <a:r>
              <a:rPr lang="en-US" sz="2100" b="0" i="0" u="none" strike="noStrike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2100" b="0" i="0" u="none" strike="noStrike">
                <a:solidFill>
                  <a:srgbClr val="007BFF"/>
                </a:solidFill>
                <a:ea typeface="Pretendard Medium"/>
              </a:rPr>
              <a:t>참조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754600" y="279400"/>
            <a:ext cx="215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핵심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기능의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실행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98700"/>
            <a:ext cx="8369300" cy="524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2298700"/>
            <a:ext cx="7924800" cy="527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0" y="3987800"/>
            <a:ext cx="10541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900" y="5918200"/>
            <a:ext cx="50419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261100" y="8051800"/>
            <a:ext cx="561340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30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자리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중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상태의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자리가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 6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 20%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23900" y="1612900"/>
            <a:ext cx="34036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[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오후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55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754600" y="279400"/>
            <a:ext cx="215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핵심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기능의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실행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4900"/>
            <a:ext cx="8178800" cy="505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100" y="2387600"/>
            <a:ext cx="7924800" cy="5041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0" y="3987800"/>
            <a:ext cx="10541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2900" y="5765800"/>
            <a:ext cx="50419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89500" y="8077200"/>
            <a:ext cx="8166100" cy="1409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6160"/>
              </a:lnSpc>
            </a:pPr>
            <a:r>
              <a:rPr lang="ko-KR" sz="2500" b="1" i="0" u="none" strike="noStrike">
                <a:solidFill>
                  <a:srgbClr val="323232"/>
                </a:solidFill>
                <a:ea typeface="Pretendard Medium"/>
              </a:rPr>
              <a:t>우측</a:t>
            </a:r>
            <a:r>
              <a:rPr lang="en-US" sz="2500" b="1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1" i="0" u="none" strike="noStrike">
                <a:solidFill>
                  <a:srgbClr val="323232"/>
                </a:solidFill>
                <a:ea typeface="Pretendard Medium"/>
              </a:rPr>
              <a:t>사람</a:t>
            </a:r>
            <a:r>
              <a:rPr lang="en-US" sz="2500" b="1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1" i="0" u="none" strike="noStrike">
                <a:solidFill>
                  <a:srgbClr val="323232"/>
                </a:solidFill>
                <a:ea typeface="Pretendard Medium"/>
              </a:rPr>
              <a:t>한명</a:t>
            </a:r>
            <a:r>
              <a:rPr lang="en-US" sz="2500" b="1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1" i="0" u="none" strike="noStrike">
                <a:solidFill>
                  <a:srgbClr val="323232"/>
                </a:solidFill>
                <a:ea typeface="Pretendard Medium"/>
              </a:rPr>
              <a:t>이탈</a:t>
            </a:r>
            <a:r>
              <a:rPr lang="en-US" sz="2500" b="1" i="0" u="none" strike="noStrike">
                <a:solidFill>
                  <a:srgbClr val="323232"/>
                </a:solidFill>
                <a:latin typeface="Pretendard Medium"/>
              </a:rPr>
              <a:t>.</a:t>
            </a:r>
            <a:br>
              <a:rPr lang="en-US" sz="2500" b="1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30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자리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중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상태의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자리가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 6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개에서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5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변함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</a:p>
          <a:p>
            <a:pPr lvl="0" algn="ctr">
              <a:lnSpc>
                <a:spcPct val="126160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 17%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혼잡도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/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상태의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자리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1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개가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이탈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처리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89000" y="1587500"/>
            <a:ext cx="34036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[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오후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3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56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602200" y="279400"/>
            <a:ext cx="3683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프로젝트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AI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개발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과정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38100" y="3505200"/>
            <a:ext cx="18465800" cy="38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2573000" y="3263900"/>
            <a:ext cx="4572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0" y="3378200"/>
            <a:ext cx="241300" cy="241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87500" y="3302000"/>
            <a:ext cx="457200" cy="45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800" y="3416300"/>
            <a:ext cx="241300" cy="2413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7061200" y="3263900"/>
            <a:ext cx="457200" cy="457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78200"/>
            <a:ext cx="241300" cy="241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12900" y="4737100"/>
            <a:ext cx="4267200" cy="326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실시간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객체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탐지를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목표로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, </a:t>
            </a:r>
          </a:p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YOLO(You Only Look Once)</a:t>
            </a:r>
          </a:p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알고리즘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기반으로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시작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기본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YOLO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모델과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Roboflow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공개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데이터셋을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활용한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커스텀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학습을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시도</a:t>
            </a:r>
            <a:b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</a:b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12900" y="4000500"/>
            <a:ext cx="2679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1 )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초기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접근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10400" y="4648200"/>
            <a:ext cx="4267200" cy="232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처리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지연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(delay)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문제와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훈련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실제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적용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환경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간의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차이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발생</a:t>
            </a:r>
          </a:p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유의미한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성능을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확보하지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</a:p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못하는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한계에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부딪힘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10400" y="3975100"/>
            <a:ext cx="2425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2)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한계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봉착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60300" y="4597400"/>
            <a:ext cx="4267200" cy="232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멘토링을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통해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 task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특화된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YOLO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시스템으로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시도함</a:t>
            </a:r>
            <a:b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</a:b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-&gt;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단일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객체나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분리된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객체에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대해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준수한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성능을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보임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.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73000" y="3835400"/>
            <a:ext cx="3390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3)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교수님의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멘토링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348200" y="304800"/>
            <a:ext cx="609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863600"/>
            <a:ext cx="11049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프로젝트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AI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개발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과정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38100" y="3505200"/>
            <a:ext cx="18465800" cy="38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2471400" y="3263900"/>
            <a:ext cx="4572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5700" y="3378200"/>
            <a:ext cx="241300" cy="241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587500" y="3302000"/>
            <a:ext cx="457200" cy="45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800" y="3416300"/>
            <a:ext cx="241300" cy="2413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6896100" y="3263900"/>
            <a:ext cx="457200" cy="457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3378200"/>
            <a:ext cx="241300" cy="241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5041900"/>
            <a:ext cx="4864100" cy="420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목표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: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앞서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발견한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미탐지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/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오탐지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문제를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해결하는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것</a:t>
            </a:r>
          </a:p>
          <a:p>
            <a:pPr lvl="0" algn="l">
              <a:lnSpc>
                <a:spcPct val="122839"/>
              </a:lnSpc>
            </a:pP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'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특정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상황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부재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'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해결하는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것이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효율적이라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판단</a:t>
            </a:r>
            <a:b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</a:br>
            <a:b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</a:b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미탐지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/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오탐지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문제에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대한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강건성을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기르기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위해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모델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파인튜닝과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로직을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추가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0" y="3937000"/>
            <a:ext cx="51308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5)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문제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해결을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위한</a:t>
            </a:r>
          </a:p>
          <a:p>
            <a:pPr lvl="0" algn="l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개발전략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6200" y="4838700"/>
            <a:ext cx="4635500" cy="420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실제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환경에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적용했을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때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치명적인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문제점이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발생</a:t>
            </a:r>
          </a:p>
          <a:p>
            <a:pPr lvl="0" algn="l">
              <a:lnSpc>
                <a:spcPct val="122839"/>
              </a:lnSpc>
            </a:pP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겹쳐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있거나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지나가는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사람인데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표시되는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경우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,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벽에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붙어있는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장식이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탐지되는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경우와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같이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미탐지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/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오탐지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문제가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발생</a:t>
            </a:r>
          </a:p>
          <a:p>
            <a:pPr lvl="0" algn="l">
              <a:lnSpc>
                <a:spcPct val="122839"/>
              </a:lnSpc>
            </a:pPr>
            <a:br>
              <a:rPr/>
            </a:b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=&gt;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점유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여부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확인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성능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저하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4300" y="3975100"/>
            <a:ext cx="3390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4)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핵심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문제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발견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46000" y="4648200"/>
            <a:ext cx="5473700" cy="514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 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문제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상황을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가장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대표하는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고품질의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커스텀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데이터셋을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구축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122839"/>
              </a:lnSpc>
            </a:pPr>
            <a:endParaRPr lang="en-US" sz="2500" b="0" i="0" u="none" strike="noStrike">
              <a:solidFill>
                <a:srgbClr val="323232"/>
              </a:solidFill>
              <a:latin typeface="Pretendard Medium"/>
            </a:endParaRPr>
          </a:p>
          <a:p>
            <a:pPr lvl="0" algn="l">
              <a:lnSpc>
                <a:spcPct val="122839"/>
              </a:lnSpc>
            </a:pP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기존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모델을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파인튜닝하는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중심의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b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</a:b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접근법을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채택</a:t>
            </a:r>
          </a:p>
          <a:p>
            <a:pPr lvl="0" algn="l">
              <a:lnSpc>
                <a:spcPct val="122839"/>
              </a:lnSpc>
            </a:pP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  <a:p>
            <a:pPr lvl="0" algn="l">
              <a:lnSpc>
                <a:spcPct val="122839"/>
              </a:lnSpc>
            </a:pP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=&gt;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사람겹침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특화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데이터셋을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이용하여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기반모델에대한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학습추가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(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파인튜닝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)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수행</a:t>
            </a:r>
            <a:b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</a:b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=&gt;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복잡한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겹침상황에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대한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모델의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대응력을</a:t>
            </a:r>
            <a:r>
              <a:rPr lang="en-US" sz="2500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323232"/>
                </a:solidFill>
                <a:ea typeface="Pretendard Medium"/>
              </a:rPr>
              <a:t>높임</a:t>
            </a:r>
          </a:p>
          <a:p>
            <a:pPr lvl="0" algn="l">
              <a:lnSpc>
                <a:spcPct val="122839"/>
              </a:lnSpc>
            </a:pPr>
            <a:endParaRPr lang="ko-KR" sz="2500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471400" y="3937000"/>
            <a:ext cx="33909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6)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문제</a:t>
            </a:r>
            <a:r>
              <a:rPr lang="en-US" sz="3000" b="0" i="0" u="none" strike="noStrike">
                <a:solidFill>
                  <a:srgbClr val="323232"/>
                </a:solidFill>
                <a:latin typeface="Pretendard ExtraBold"/>
              </a:rPr>
              <a:t> </a:t>
            </a:r>
            <a:r>
              <a:rPr lang="ko-KR" sz="3000" b="0" i="0" u="none" strike="noStrike">
                <a:solidFill>
                  <a:srgbClr val="323232"/>
                </a:solidFill>
                <a:ea typeface="Pretendard ExtraBold"/>
              </a:rPr>
              <a:t>해결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411700" y="3048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787400"/>
            <a:ext cx="110490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결론</a:t>
            </a:r>
          </a:p>
          <a:p>
            <a:pPr lvl="0" algn="l">
              <a:lnSpc>
                <a:spcPct val="116199"/>
              </a:lnSpc>
            </a:pP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-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프로젝트의</a:t>
            </a:r>
            <a:r>
              <a:rPr lang="en-US" sz="5500" b="0" i="0" u="none" strike="noStrike">
                <a:solidFill>
                  <a:srgbClr val="007BFF"/>
                </a:solidFill>
                <a:latin typeface="Pretendard ExtraBold"/>
              </a:rPr>
              <a:t> </a:t>
            </a:r>
            <a:r>
              <a:rPr lang="ko-KR" sz="5500" b="0" i="0" u="none" strike="noStrike">
                <a:solidFill>
                  <a:srgbClr val="007BFF"/>
                </a:solidFill>
                <a:ea typeface="Pretendard ExtraBold"/>
              </a:rPr>
              <a:t>한계점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88900" y="3403600"/>
            <a:ext cx="184658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374900" y="4813300"/>
            <a:ext cx="14846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사람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겹침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외에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발생할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문제들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외각쪽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인식이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안되는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문제나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각도상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판별이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어려운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4900" y="3949700"/>
            <a:ext cx="5270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ai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한계점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3975100"/>
            <a:ext cx="1079500" cy="1079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09700" y="4152900"/>
            <a:ext cx="2921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74900" y="6654800"/>
            <a:ext cx="14846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지속적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모니터링으로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오류케이스에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모델추가학습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개수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늘리기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4900" y="5829300"/>
            <a:ext cx="58547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서비스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운영시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개선해야할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5854700"/>
            <a:ext cx="1079500" cy="1079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33500" y="6032500"/>
            <a:ext cx="4572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74900" y="8547100"/>
            <a:ext cx="14846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좌석별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roi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따다보니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학교와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학습공간에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 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적용시키엔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시간과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비용이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소모됨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 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74900" y="7734300"/>
            <a:ext cx="58547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서비스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운영시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개선해야할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점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7759700"/>
            <a:ext cx="1079500" cy="107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33500" y="7950200"/>
            <a:ext cx="4572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4404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678400" y="279400"/>
            <a:ext cx="292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13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4292600"/>
            <a:ext cx="18288000" cy="5994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2000" y="571500"/>
            <a:ext cx="58928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400" b="0" i="0" u="none" strike="noStrike" spc="-200">
                <a:solidFill>
                  <a:srgbClr val="007BFF"/>
                </a:solidFill>
                <a:ea typeface="S-Core Dream 7 ExtraBold"/>
              </a:rPr>
              <a:t>결론</a:t>
            </a:r>
            <a:r>
              <a:rPr lang="en-US" sz="4400" b="0" i="0" u="none" strike="noStrike" spc="-200">
                <a:solidFill>
                  <a:srgbClr val="007BFF"/>
                </a:solidFill>
                <a:latin typeface="S-Core Dream 7 ExtraBold"/>
              </a:rPr>
              <a:t> - </a:t>
            </a:r>
            <a:r>
              <a:rPr lang="ko-KR" sz="4400" b="0" i="0" u="none" strike="noStrike" spc="-200">
                <a:solidFill>
                  <a:srgbClr val="007BFF"/>
                </a:solidFill>
                <a:ea typeface="S-Core Dream 7 ExtraBold"/>
              </a:rPr>
              <a:t>향후</a:t>
            </a:r>
            <a:r>
              <a:rPr lang="en-US" sz="4400" b="0" i="0" u="none" strike="noStrike" spc="-200">
                <a:solidFill>
                  <a:srgbClr val="007BFF"/>
                </a:solidFill>
                <a:latin typeface="S-Core Dream 7 ExtraBold"/>
              </a:rPr>
              <a:t> </a:t>
            </a:r>
            <a:r>
              <a:rPr lang="ko-KR" sz="4400" b="0" i="0" u="none" strike="noStrike" spc="-200">
                <a:solidFill>
                  <a:srgbClr val="007BFF"/>
                </a:solidFill>
                <a:ea typeface="S-Core Dream 7 ExtraBold"/>
              </a:rPr>
              <a:t>계획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1214100" y="2451100"/>
            <a:ext cx="3543300" cy="736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3035300" y="2451100"/>
            <a:ext cx="3543300" cy="736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2120900" y="7670800"/>
            <a:ext cx="1397000" cy="139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" y="3187700"/>
            <a:ext cx="4279900" cy="4152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5700" y="4495800"/>
            <a:ext cx="33401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CCTV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연동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:</a:t>
            </a:r>
            <a:b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</a:b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스트림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접근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권한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및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b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</a:b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네트워크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허용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Medium"/>
              </a:rPr>
              <a:t>확보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Medium"/>
              </a:rPr>
              <a:t> 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6273800" y="7670800"/>
            <a:ext cx="1397000" cy="139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0800000">
            <a:off x="4838700" y="3187700"/>
            <a:ext cx="4279900" cy="4152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5740400" y="4229100"/>
            <a:ext cx="2463800" cy="213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영상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소스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(URL)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교체만으로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동일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아키텍처에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즉시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연동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가능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10439400" y="7670800"/>
            <a:ext cx="1397000" cy="139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1600" y="3187700"/>
            <a:ext cx="4279900" cy="4152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9575800" y="4305300"/>
            <a:ext cx="3200400" cy="213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장소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단위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좌석수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기반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추천을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넘어</a:t>
            </a:r>
          </a:p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테이블별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좌석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점유까지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고려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14617700" y="7670800"/>
            <a:ext cx="1397000" cy="139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0800000">
            <a:off x="13157200" y="3187700"/>
            <a:ext cx="4279900" cy="4152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3804900" y="4762500"/>
            <a:ext cx="2921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사용자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편의성을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3000" b="0" i="0" u="none" strike="noStrike" spc="-200">
                <a:solidFill>
                  <a:srgbClr val="007BFF"/>
                </a:solidFill>
                <a:ea typeface="Pretendard Regular"/>
              </a:rPr>
              <a:t>극대화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79600" y="1841500"/>
            <a:ext cx="5854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-200">
                <a:solidFill>
                  <a:srgbClr val="007BFF"/>
                </a:solidFill>
                <a:latin typeface="Pretendard Bold"/>
              </a:rPr>
              <a:t>&lt;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Bold"/>
              </a:rPr>
              <a:t>실생활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Bold"/>
              </a:rPr>
              <a:t>도입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Bold"/>
              </a:rPr>
              <a:t>&gt;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58400" y="1841500"/>
            <a:ext cx="58547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 spc="-200">
                <a:solidFill>
                  <a:srgbClr val="007BFF"/>
                </a:solidFill>
                <a:latin typeface="Pretendard Bold"/>
              </a:rPr>
              <a:t>&lt;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Bold"/>
              </a:rPr>
              <a:t>추천기능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Bold"/>
              </a:rPr>
              <a:t> </a:t>
            </a:r>
            <a:r>
              <a:rPr lang="ko-KR" sz="3000" b="0" i="0" u="none" strike="noStrike" spc="-200">
                <a:solidFill>
                  <a:srgbClr val="007BFF"/>
                </a:solidFill>
                <a:ea typeface="Pretendard Bold"/>
              </a:rPr>
              <a:t>고도화</a:t>
            </a:r>
            <a:r>
              <a:rPr lang="en-US" sz="3000" b="0" i="0" u="none" strike="noStrike" spc="-200">
                <a:solidFill>
                  <a:srgbClr val="007BFF"/>
                </a:solidFill>
                <a:latin typeface="Pretendard Bold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5194300"/>
            <a:ext cx="18288000" cy="514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272000" y="279400"/>
            <a:ext cx="6858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007BFF"/>
                </a:solidFill>
                <a:latin typeface="Anek Bangla Expanded SemiBold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27000" y="4203700"/>
            <a:ext cx="18542000" cy="177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0000" b="0" i="0" u="none" strike="noStrike">
                <a:solidFill>
                  <a:srgbClr val="007BFF"/>
                </a:solidFill>
                <a:ea typeface="Pretendard Extra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사용자 지정</PresentationFormat>
  <Paragraphs>146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Calibri</vt:lpstr>
      <vt:lpstr>Pretendard SemiBold</vt:lpstr>
      <vt:lpstr>Pretendard ExtraBold</vt:lpstr>
      <vt:lpstr>Anek Bangla Expanded SemiBold</vt:lpstr>
      <vt:lpstr>S-Core Dream 7 ExtraBold</vt:lpstr>
      <vt:lpstr>Pretendard Bold</vt:lpstr>
      <vt:lpstr>Pretendard Medium</vt:lpstr>
      <vt:lpstr>Pretendard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임지수</cp:lastModifiedBy>
  <cp:revision>2</cp:revision>
  <dcterms:created xsi:type="dcterms:W3CDTF">2006-08-16T00:00:00Z</dcterms:created>
  <dcterms:modified xsi:type="dcterms:W3CDTF">2025-08-22T10:12:14Z</dcterms:modified>
</cp:coreProperties>
</file>